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true" autoCompressPictures="0" embedTrueTypeFonts="true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embeddedFontLst>
    <p:embeddedFont>
      <p:font typeface="Bitter SemiBold"/>
      <p:regular r:id="rId201314"/>
    </p:embeddedFont>
    <p:embeddedFont>
      <p:font typeface="Bitter"/>
      <p:regular r:id="rId201315"/>
    </p:embeddedFont>
    <p:embeddedFont>
      <p:font typeface="Bitter Bold"/>
      <p:regular r:id="rId201316"/>
    </p:embeddedFont>
    <p:embeddedFont>
      <p:font typeface="Jost"/>
      <p:regular r:id="rId201317"/>
    </p:embeddedFont>
    <p:embeddedFont>
      <p:font typeface="Jost Bold"/>
      <p:regular r:id="rId201318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201314" Target="fonts/201314.fntdata" Type="http://schemas.openxmlformats.org/officeDocument/2006/relationships/font"/><Relationship Id="rId201315" Target="fonts/201315.fntdata" Type="http://schemas.openxmlformats.org/officeDocument/2006/relationships/font"/><Relationship Id="rId201316" Target="fonts/201316.fntdata" Type="http://schemas.openxmlformats.org/officeDocument/2006/relationships/font"/><Relationship Id="rId201317" Target="fonts/201317.fntdata" Type="http://schemas.openxmlformats.org/officeDocument/2006/relationships/font"/><Relationship Id="rId201318" Target="fonts/201318.fntdata" Type="http://schemas.openxmlformats.org/officeDocument/2006/relationships/font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jpeg"/><Relationship Id="rId2" Type="http://schemas.openxmlformats.org/officeDocument/2006/relationships/image" Target="../media/image-1002-2.png"/><Relationship Id="rId4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2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pic>
        <p:nvPicPr>
          <p:cNvPr id="4" name="Image 1" descr="preencoded.png">
            <a:hlinkClick r:id="rId3" tooltip=""/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2">
    <p:bg>
      <p:bgPr>
        <a:solidFill>
          <a:srgbClr val="1710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jpeg"/><Relationship Id="rId6" Type="http://schemas.openxmlformats.org/officeDocument/2006/relationships/slideLayout" Target="../slideLayouts/slideLayout3.xml"/><Relationship Id="rId7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711182" y="1041400"/>
            <a:ext cx="7492813" cy="4359077"/>
          </a:xfrm>
          <a:prstGeom prst="roundRect">
            <a:avLst>
              <a:gd name="adj" fmla="val 612"/>
            </a:avLst>
          </a:prstGeom>
          <a:solidFill>
            <a:srgbClr val="17102B">
              <a:alpha val="86000"/>
            </a:srgbClr>
          </a:solidFill>
          <a:ln w="12700">
            <a:solidFill>
              <a:srgbClr val="B79CF5">
                <a:alpha val="40000"/>
              </a:srgbClr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1155671" y="1435100"/>
            <a:ext cx="72134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DATA STRUCTURES AND ALGORITHMS · FINAL REVIEW</a:t>
            </a:r>
            <a:endParaRPr lang="en-US" sz="1050" dirty="0"/>
          </a:p>
        </p:txBody>
      </p:sp>
      <p:sp>
        <p:nvSpPr>
          <p:cNvPr id="4" name="Text 2"/>
          <p:cNvSpPr/>
          <p:nvPr/>
        </p:nvSpPr>
        <p:spPr>
          <a:xfrm>
            <a:off x="1155671" y="1755080"/>
            <a:ext cx="6603835" cy="254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Intelligent Content Moderation and Sensitive Pattern Detection</a:t>
            </a:r>
            <a:endParaRPr lang="en-US" sz="5000" dirty="0"/>
          </a:p>
        </p:txBody>
      </p:sp>
      <p:sp>
        <p:nvSpPr>
          <p:cNvPr id="5" name="Text 3"/>
          <p:cNvSpPr/>
          <p:nvPr/>
        </p:nvSpPr>
        <p:spPr>
          <a:xfrm>
            <a:off x="1155671" y="4412555"/>
            <a:ext cx="721342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Automated detection of offensive, harmful, and prohibited content.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155671" y="4820146"/>
            <a:ext cx="721342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2510030417 — Srianish · 2510030339 — Vinay Goud · 2510030353 — Numair · 2510030336 — Mohit</a:t>
            </a:r>
            <a:endParaRPr lang="en-US" sz="10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8305592" cy="18077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050" spc="62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01 — THE SCALING PROBLEM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4008"/>
            <a:ext cx="7696007" cy="12432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9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Manual moderation cannot scale with user-generated text</a:t>
            </a:r>
            <a:endParaRPr lang="en-US" sz="4900" dirty="0"/>
          </a:p>
        </p:txBody>
      </p:sp>
      <p:sp>
        <p:nvSpPr>
          <p:cNvPr id="4" name="Shape 2"/>
          <p:cNvSpPr/>
          <p:nvPr/>
        </p:nvSpPr>
        <p:spPr>
          <a:xfrm>
            <a:off x="609585" y="2319437"/>
            <a:ext cx="2539540" cy="31651"/>
          </a:xfrm>
          <a:prstGeom prst="roundRect">
            <a:avLst>
              <a:gd name="adj" fmla="val 49998"/>
            </a:avLst>
          </a:prstGeom>
          <a:solidFill>
            <a:srgbClr val="17102B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219969" y="0"/>
            <a:ext cx="2971726" cy="3002657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9219969" y="0"/>
            <a:ext cx="2971726" cy="3002657"/>
          </a:xfrm>
          <a:prstGeom prst="rect">
            <a:avLst/>
          </a:prstGeom>
          <a:solidFill>
            <a:srgbClr val="000000">
              <a:alpha val="45000"/>
            </a:srgbClr>
          </a:solidFill>
          <a:ln/>
        </p:spPr>
      </p:sp>
      <p:sp>
        <p:nvSpPr>
          <p:cNvPr id="7" name="Shape 4"/>
          <p:cNvSpPr/>
          <p:nvPr/>
        </p:nvSpPr>
        <p:spPr>
          <a:xfrm>
            <a:off x="0" y="3154759"/>
            <a:ext cx="2933627" cy="3519487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09585" y="3889077"/>
            <a:ext cx="348051" cy="348059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609585" y="4407322"/>
            <a:ext cx="1714457" cy="46493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Slow and expensive</a:t>
            </a:r>
            <a:endParaRPr lang="en-US" sz="1650" dirty="0"/>
          </a:p>
        </p:txBody>
      </p:sp>
      <p:sp>
        <p:nvSpPr>
          <p:cNvPr id="10" name="Text 6"/>
          <p:cNvSpPr/>
          <p:nvPr/>
        </p:nvSpPr>
        <p:spPr>
          <a:xfrm>
            <a:off x="609585" y="4975820"/>
            <a:ext cx="1714457" cy="96400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Manual review is slow, difficult to scale, inconsistent, and expensive.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3086023" y="3154759"/>
            <a:ext cx="2933627" cy="3519487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95608" y="3764359"/>
            <a:ext cx="348051" cy="3480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695608" y="4282604"/>
            <a:ext cx="171445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Lists miss variation</a:t>
            </a:r>
            <a:endParaRPr lang="en-US" sz="1650" dirty="0"/>
          </a:p>
        </p:txBody>
      </p:sp>
      <p:sp>
        <p:nvSpPr>
          <p:cNvPr id="14" name="Text 9"/>
          <p:cNvSpPr/>
          <p:nvPr/>
        </p:nvSpPr>
        <p:spPr>
          <a:xfrm>
            <a:off x="3695608" y="4618633"/>
            <a:ext cx="1714457" cy="144601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Basic keyword filters miss variations and depend on constantly maintained keyword lists.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6172046" y="3154759"/>
            <a:ext cx="2933627" cy="3519487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81630" y="4125813"/>
            <a:ext cx="348051" cy="348059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781630" y="4644058"/>
            <a:ext cx="171445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False positives</a:t>
            </a:r>
            <a:endParaRPr lang="en-US" sz="1650" dirty="0"/>
          </a:p>
        </p:txBody>
      </p:sp>
      <p:sp>
        <p:nvSpPr>
          <p:cNvPr id="18" name="Text 12"/>
          <p:cNvSpPr/>
          <p:nvPr/>
        </p:nvSpPr>
        <p:spPr>
          <a:xfrm>
            <a:off x="6781630" y="4980087"/>
            <a:ext cx="1714457" cy="72300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False positives make simple filtering unreliable.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9258068" y="3154759"/>
            <a:ext cx="2933627" cy="3519487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20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67653" y="3884811"/>
            <a:ext cx="348051" cy="348059"/>
          </a:xfrm>
          <a:prstGeom prst="rect">
            <a:avLst/>
          </a:prstGeom>
        </p:spPr>
      </p:pic>
      <p:sp>
        <p:nvSpPr>
          <p:cNvPr id="21" name="Text 14"/>
          <p:cNvSpPr/>
          <p:nvPr/>
        </p:nvSpPr>
        <p:spPr>
          <a:xfrm>
            <a:off x="9867653" y="4403056"/>
            <a:ext cx="1714457" cy="23247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5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Core question</a:t>
            </a:r>
            <a:endParaRPr lang="en-US" sz="1650" dirty="0"/>
          </a:p>
        </p:txBody>
      </p:sp>
      <p:sp>
        <p:nvSpPr>
          <p:cNvPr id="22" name="Text 15"/>
          <p:cNvSpPr/>
          <p:nvPr/>
        </p:nvSpPr>
        <p:spPr>
          <a:xfrm>
            <a:off x="9867653" y="4739084"/>
            <a:ext cx="1714457" cy="120501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5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Core question: how can DSA detect sensitive patterns efficiently at high text volume?</a:t>
            </a:r>
            <a:endParaRPr lang="en-US" sz="1350" dirty="0"/>
          </a:p>
        </p:txBody>
      </p:sp>
      <p:sp>
        <p:nvSpPr>
          <p:cNvPr id="23" name="Text 16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11946135" y="6466086"/>
            <a:ext cx="2455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2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02 — HYBRID PIPELINE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 hybrid pipeline turns raw text into a moderation decision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stage narrows uncertainty before the final moderation action.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609585" y="2743696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09585" y="2992636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7" name="Text 5"/>
          <p:cNvSpPr/>
          <p:nvPr/>
        </p:nvSpPr>
        <p:spPr>
          <a:xfrm>
            <a:off x="609585" y="3135174"/>
            <a:ext cx="1950592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Clean and tokenize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609585" y="3482777"/>
            <a:ext cx="1950592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Clean, normalize, and tokenize the input.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2864969" y="2743696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2864969" y="2992636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1" name="Text 9"/>
          <p:cNvSpPr/>
          <p:nvPr/>
        </p:nvSpPr>
        <p:spPr>
          <a:xfrm>
            <a:off x="2864969" y="3135174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Search candidates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2864969" y="3482777"/>
            <a:ext cx="195069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Use string matching and hash-based lookup.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5120452" y="2743696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5120452" y="2992636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5" name="Text 13"/>
          <p:cNvSpPr/>
          <p:nvPr/>
        </p:nvSpPr>
        <p:spPr>
          <a:xfrm>
            <a:off x="5120452" y="3135174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Verify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5120452" y="3482777"/>
            <a:ext cx="195069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Verify candidates with randomized checks.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7375936" y="2743696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7375936" y="2992636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9" name="Text 17"/>
          <p:cNvSpPr/>
          <p:nvPr/>
        </p:nvSpPr>
        <p:spPr>
          <a:xfrm>
            <a:off x="7375936" y="3135174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Classify</a:t>
            </a:r>
            <a:endParaRPr lang="en-US" sz="1700" dirty="0"/>
          </a:p>
        </p:txBody>
      </p:sp>
      <p:sp>
        <p:nvSpPr>
          <p:cNvPr id="20" name="Text 18"/>
          <p:cNvSpPr/>
          <p:nvPr/>
        </p:nvSpPr>
        <p:spPr>
          <a:xfrm>
            <a:off x="7375936" y="3482777"/>
            <a:ext cx="1950691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Assign safe, sensitive, offensive, or prohibited.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9631419" y="2743696"/>
            <a:ext cx="819427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05</a:t>
            </a:r>
            <a:endParaRPr lang="en-US" sz="1400" dirty="0"/>
          </a:p>
        </p:txBody>
      </p:sp>
      <p:sp>
        <p:nvSpPr>
          <p:cNvPr id="22" name="Shape 20"/>
          <p:cNvSpPr/>
          <p:nvPr/>
        </p:nvSpPr>
        <p:spPr>
          <a:xfrm>
            <a:off x="9631419" y="2992636"/>
            <a:ext cx="1950592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23" name="Text 21"/>
          <p:cNvSpPr/>
          <p:nvPr/>
        </p:nvSpPr>
        <p:spPr>
          <a:xfrm>
            <a:off x="9631419" y="3135174"/>
            <a:ext cx="1950691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Moderate</a:t>
            </a:r>
            <a:endParaRPr lang="en-US" sz="1700" dirty="0"/>
          </a:p>
        </p:txBody>
      </p:sp>
      <p:sp>
        <p:nvSpPr>
          <p:cNvPr id="24" name="Text 22"/>
          <p:cNvSpPr/>
          <p:nvPr/>
        </p:nvSpPr>
        <p:spPr>
          <a:xfrm>
            <a:off x="9631419" y="3482777"/>
            <a:ext cx="1950691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Support an allow, flag, or block action.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1942960" y="6466086"/>
            <a:ext cx="24873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3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69925"/>
            <a:ext cx="10972526" cy="635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Input flows through five decision layers</a:t>
            </a:r>
            <a:endParaRPr lang="en-US" sz="5000" dirty="0"/>
          </a:p>
        </p:txBody>
      </p:sp>
      <p:sp>
        <p:nvSpPr>
          <p:cNvPr id="3" name="Shape 1"/>
          <p:cNvSpPr/>
          <p:nvPr/>
        </p:nvSpPr>
        <p:spPr>
          <a:xfrm>
            <a:off x="742931" y="1400175"/>
            <a:ext cx="19050" cy="4692650"/>
          </a:xfrm>
          <a:prstGeom prst="roundRect">
            <a:avLst>
              <a:gd name="adj" fmla="val 49999"/>
            </a:avLst>
          </a:prstGeom>
          <a:solidFill>
            <a:srgbClr val="FFFFFF">
              <a:alpha val="24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723882" y="1590675"/>
            <a:ext cx="355591" cy="19050"/>
          </a:xfrm>
          <a:prstGeom prst="roundRect">
            <a:avLst>
              <a:gd name="adj" fmla="val 49999"/>
            </a:avLst>
          </a:prstGeom>
          <a:solidFill>
            <a:srgbClr val="302944"/>
          </a:solidFill>
          <a:ln/>
        </p:spPr>
      </p:sp>
      <p:sp>
        <p:nvSpPr>
          <p:cNvPr id="5" name="Shape 3"/>
          <p:cNvSpPr/>
          <p:nvPr/>
        </p:nvSpPr>
        <p:spPr>
          <a:xfrm>
            <a:off x="676258" y="1533525"/>
            <a:ext cx="133347" cy="133350"/>
          </a:xfrm>
          <a:prstGeom prst="ellipse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1454114" y="1461294"/>
            <a:ext cx="1012799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User input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1454114" y="1805384"/>
            <a:ext cx="101279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Receive 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723882" y="2600325"/>
            <a:ext cx="355591" cy="19050"/>
          </a:xfrm>
          <a:prstGeom prst="roundRect">
            <a:avLst>
              <a:gd name="adj" fmla="val 49999"/>
            </a:avLst>
          </a:prstGeom>
          <a:solidFill>
            <a:srgbClr val="634F89"/>
          </a:solidFill>
          <a:ln/>
        </p:spPr>
      </p:sp>
      <p:sp>
        <p:nvSpPr>
          <p:cNvPr id="9" name="Shape 7"/>
          <p:cNvSpPr/>
          <p:nvPr/>
        </p:nvSpPr>
        <p:spPr>
          <a:xfrm>
            <a:off x="676258" y="2543175"/>
            <a:ext cx="133347" cy="133350"/>
          </a:xfrm>
          <a:prstGeom prst="ellipse">
            <a:avLst/>
          </a:prstGeom>
          <a:solidFill>
            <a:srgbClr val="4A3670"/>
          </a:solidFill>
          <a:ln/>
        </p:spPr>
      </p:sp>
      <p:sp>
        <p:nvSpPr>
          <p:cNvPr id="10" name="Text 8"/>
          <p:cNvSpPr/>
          <p:nvPr/>
        </p:nvSpPr>
        <p:spPr>
          <a:xfrm>
            <a:off x="1454114" y="2470944"/>
            <a:ext cx="1012799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Preprocessing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1454114" y="2815034"/>
            <a:ext cx="101279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Clean, normalize, and tokenize.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723882" y="3609975"/>
            <a:ext cx="355591" cy="19050"/>
          </a:xfrm>
          <a:prstGeom prst="roundRect">
            <a:avLst>
              <a:gd name="adj" fmla="val 49999"/>
            </a:avLst>
          </a:prstGeom>
          <a:solidFill>
            <a:srgbClr val="9553FF"/>
          </a:solidFill>
          <a:ln/>
        </p:spPr>
      </p:sp>
      <p:sp>
        <p:nvSpPr>
          <p:cNvPr id="13" name="Shape 11"/>
          <p:cNvSpPr/>
          <p:nvPr/>
        </p:nvSpPr>
        <p:spPr>
          <a:xfrm>
            <a:off x="676258" y="3552825"/>
            <a:ext cx="133347" cy="13335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14" name="Text 12"/>
          <p:cNvSpPr/>
          <p:nvPr/>
        </p:nvSpPr>
        <p:spPr>
          <a:xfrm>
            <a:off x="1454114" y="3480594"/>
            <a:ext cx="1012799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Detection engine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1454114" y="3824684"/>
            <a:ext cx="101279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Combine string matching, hashing, and randomized checks.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723882" y="4619625"/>
            <a:ext cx="355591" cy="19050"/>
          </a:xfrm>
          <a:prstGeom prst="roundRect">
            <a:avLst>
              <a:gd name="adj" fmla="val 49999"/>
            </a:avLst>
          </a:prstGeom>
          <a:solidFill>
            <a:srgbClr val="9D82DB"/>
          </a:solidFill>
          <a:ln/>
        </p:spPr>
      </p:sp>
      <p:sp>
        <p:nvSpPr>
          <p:cNvPr id="17" name="Shape 15"/>
          <p:cNvSpPr/>
          <p:nvPr/>
        </p:nvSpPr>
        <p:spPr>
          <a:xfrm>
            <a:off x="676258" y="4562475"/>
            <a:ext cx="133347" cy="133350"/>
          </a:xfrm>
          <a:prstGeom prst="ellipse">
            <a:avLst/>
          </a:prstGeom>
          <a:solidFill>
            <a:srgbClr val="B79CF5"/>
          </a:solidFill>
          <a:ln/>
        </p:spPr>
      </p:sp>
      <p:sp>
        <p:nvSpPr>
          <p:cNvPr id="18" name="Text 16"/>
          <p:cNvSpPr/>
          <p:nvPr/>
        </p:nvSpPr>
        <p:spPr>
          <a:xfrm>
            <a:off x="1454114" y="4490244"/>
            <a:ext cx="1012799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Classification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1454114" y="4834334"/>
            <a:ext cx="101279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Assign a risk category.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723882" y="5629275"/>
            <a:ext cx="355591" cy="19050"/>
          </a:xfrm>
          <a:prstGeom prst="roundRect">
            <a:avLst>
              <a:gd name="adj" fmla="val 49999"/>
            </a:avLst>
          </a:prstGeom>
          <a:solidFill>
            <a:srgbClr val="D8D3E1"/>
          </a:solidFill>
          <a:ln/>
        </p:spPr>
      </p:sp>
      <p:sp>
        <p:nvSpPr>
          <p:cNvPr id="21" name="Shape 19"/>
          <p:cNvSpPr/>
          <p:nvPr/>
        </p:nvSpPr>
        <p:spPr>
          <a:xfrm>
            <a:off x="676258" y="5572125"/>
            <a:ext cx="133347" cy="133350"/>
          </a:xfrm>
          <a:prstGeom prst="ellipse">
            <a:avLst/>
          </a:prstGeom>
          <a:solidFill>
            <a:srgbClr val="F2EDFB"/>
          </a:solidFill>
          <a:ln/>
        </p:spPr>
      </p:sp>
      <p:sp>
        <p:nvSpPr>
          <p:cNvPr id="22" name="Text 20"/>
          <p:cNvSpPr/>
          <p:nvPr/>
        </p:nvSpPr>
        <p:spPr>
          <a:xfrm>
            <a:off x="1454114" y="5499894"/>
            <a:ext cx="1012799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Moderation result</a:t>
            </a:r>
            <a:endParaRPr lang="en-US" sz="1700" dirty="0"/>
          </a:p>
        </p:txBody>
      </p:sp>
      <p:sp>
        <p:nvSpPr>
          <p:cNvPr id="23" name="Text 21"/>
          <p:cNvSpPr/>
          <p:nvPr/>
        </p:nvSpPr>
        <p:spPr>
          <a:xfrm>
            <a:off x="1454114" y="5843984"/>
            <a:ext cx="1012799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Allow, flag, block, or escalate.</a:t>
            </a:r>
            <a:endParaRPr lang="en-US" sz="1400" dirty="0"/>
          </a:p>
        </p:txBody>
      </p:sp>
      <p:sp>
        <p:nvSpPr>
          <p:cNvPr id="24" name="Text 22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11941174" y="6466086"/>
            <a:ext cx="25052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771128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04 — DETECTION ENGINE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7101702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Three algorithmic ideas power detection</a:t>
            </a:r>
            <a:endParaRPr lang="en-US" sz="5000" dirty="0"/>
          </a:p>
        </p:txBody>
      </p:sp>
      <p:sp>
        <p:nvSpPr>
          <p:cNvPr id="4" name="Shape 2"/>
          <p:cNvSpPr/>
          <p:nvPr/>
        </p:nvSpPr>
        <p:spPr>
          <a:xfrm>
            <a:off x="609585" y="2317055"/>
            <a:ext cx="3398455" cy="1813223"/>
          </a:xfrm>
          <a:prstGeom prst="roundRect">
            <a:avLst>
              <a:gd name="adj" fmla="val 63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57229" y="2581533"/>
            <a:ext cx="29031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String matching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857229" y="2929136"/>
            <a:ext cx="29031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Search input text for sensitive patterns.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312832" y="2317055"/>
            <a:ext cx="3398455" cy="1813223"/>
          </a:xfrm>
          <a:prstGeom prst="roundRect">
            <a:avLst>
              <a:gd name="adj" fmla="val 63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60476" y="2581533"/>
            <a:ext cx="29031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Hashing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4560476" y="2929136"/>
            <a:ext cx="29031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Turn patterns into hash values for fast lookup.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09585" y="4435078"/>
            <a:ext cx="3398455" cy="1813322"/>
          </a:xfrm>
          <a:prstGeom prst="roundRect">
            <a:avLst>
              <a:gd name="adj" fmla="val 63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57229" y="4699556"/>
            <a:ext cx="29031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Randomized algorithms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857229" y="5047159"/>
            <a:ext cx="29031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Filter candidates, then verify likely matches.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312832" y="4435078"/>
            <a:ext cx="3398455" cy="1813322"/>
          </a:xfrm>
          <a:prstGeom prst="roundRect">
            <a:avLst>
              <a:gd name="adj" fmla="val 630"/>
            </a:avLst>
          </a:prstGeom>
          <a:noFill/>
          <a:ln w="19050">
            <a:solidFill>
              <a:srgbClr val="302944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4560476" y="4699556"/>
            <a:ext cx="290316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String processing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4560476" y="5047159"/>
            <a:ext cx="290316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Clean, tokenize, and normalize text.</a:t>
            </a:r>
            <a:endParaRPr lang="en-US" sz="1400" dirty="0"/>
          </a:p>
        </p:txBody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25565" y="0"/>
            <a:ext cx="3566130" cy="6858000"/>
          </a:xfrm>
          <a:prstGeom prst="rect">
            <a:avLst/>
          </a:prstGeom>
        </p:spPr>
      </p:pic>
      <p:sp>
        <p:nvSpPr>
          <p:cNvPr id="17" name="Shape 14"/>
          <p:cNvSpPr/>
          <p:nvPr/>
        </p:nvSpPr>
        <p:spPr>
          <a:xfrm>
            <a:off x="8625565" y="0"/>
            <a:ext cx="3566130" cy="6858000"/>
          </a:xfrm>
          <a:prstGeom prst="rect">
            <a:avLst/>
          </a:prstGeom>
          <a:solidFill>
            <a:srgbClr val="000000">
              <a:alpha val="35000"/>
            </a:srgbClr>
          </a:solidFill>
          <a:ln/>
        </p:spPr>
      </p:sp>
      <p:sp>
        <p:nvSpPr>
          <p:cNvPr id="18" name="Text 15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19" name="Text 16"/>
          <p:cNvSpPr/>
          <p:nvPr/>
        </p:nvSpPr>
        <p:spPr>
          <a:xfrm>
            <a:off x="6062610" y="6466086"/>
            <a:ext cx="676060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5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05 — DATA STRUCTURES AND COMPLEXITY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Data structures reduce unnecessary comparisons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The optimization path is explicit: large input → preprocessing → candidate filtering → efficient matching → verification.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2743696"/>
            <a:ext cx="2072529" cy="1319312"/>
          </a:xfrm>
          <a:prstGeom prst="roundRect">
            <a:avLst>
              <a:gd name="adj" fmla="val 866"/>
            </a:avLst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838179" y="2989124"/>
            <a:ext cx="161534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String / array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38179" y="3336727"/>
            <a:ext cx="161534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and process text.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2834510" y="2743696"/>
            <a:ext cx="2072628" cy="1319312"/>
          </a:xfrm>
          <a:prstGeom prst="roundRect">
            <a:avLst>
              <a:gd name="adj" fmla="val 866"/>
            </a:avLst>
          </a:prstGeom>
          <a:solidFill>
            <a:srgbClr val="17102B"/>
          </a:solidFill>
          <a:ln/>
        </p:spPr>
      </p:sp>
      <p:sp>
        <p:nvSpPr>
          <p:cNvPr id="9" name="Text 7"/>
          <p:cNvSpPr/>
          <p:nvPr/>
        </p:nvSpPr>
        <p:spPr>
          <a:xfrm>
            <a:off x="3063104" y="2989124"/>
            <a:ext cx="161543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List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3063104" y="3336727"/>
            <a:ext cx="16154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Store sensitive patterns.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5059534" y="2743696"/>
            <a:ext cx="2072529" cy="1319312"/>
          </a:xfrm>
          <a:prstGeom prst="roundRect">
            <a:avLst>
              <a:gd name="adj" fmla="val 866"/>
            </a:avLst>
          </a:prstGeom>
          <a:solidFill>
            <a:srgbClr val="4A3670"/>
          </a:solidFill>
          <a:ln/>
        </p:spPr>
      </p:sp>
      <p:sp>
        <p:nvSpPr>
          <p:cNvPr id="12" name="Text 10"/>
          <p:cNvSpPr/>
          <p:nvPr/>
        </p:nvSpPr>
        <p:spPr>
          <a:xfrm>
            <a:off x="5288128" y="2989124"/>
            <a:ext cx="161534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Hash map</a:t>
            </a:r>
            <a:endParaRPr lang="en-US" sz="1700" dirty="0"/>
          </a:p>
        </p:txBody>
      </p:sp>
      <p:sp>
        <p:nvSpPr>
          <p:cNvPr id="13" name="Text 11"/>
          <p:cNvSpPr/>
          <p:nvPr/>
        </p:nvSpPr>
        <p:spPr>
          <a:xfrm>
            <a:off x="5288128" y="3336727"/>
            <a:ext cx="161534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Support fast pattern lookup.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284458" y="2743696"/>
            <a:ext cx="2072628" cy="1319312"/>
          </a:xfrm>
          <a:prstGeom prst="roundRect">
            <a:avLst>
              <a:gd name="adj" fmla="val 866"/>
            </a:avLst>
          </a:prstGeom>
          <a:solidFill>
            <a:srgbClr val="17102B"/>
          </a:solidFill>
          <a:ln/>
        </p:spPr>
      </p:sp>
      <p:sp>
        <p:nvSpPr>
          <p:cNvPr id="15" name="Text 13"/>
          <p:cNvSpPr/>
          <p:nvPr/>
        </p:nvSpPr>
        <p:spPr>
          <a:xfrm>
            <a:off x="7513053" y="2989124"/>
            <a:ext cx="1615439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Set</a:t>
            </a:r>
            <a:endParaRPr lang="en-US" sz="1700" dirty="0"/>
          </a:p>
        </p:txBody>
      </p:sp>
      <p:sp>
        <p:nvSpPr>
          <p:cNvPr id="16" name="Text 14"/>
          <p:cNvSpPr/>
          <p:nvPr/>
        </p:nvSpPr>
        <p:spPr>
          <a:xfrm>
            <a:off x="7513053" y="3336727"/>
            <a:ext cx="1615439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Keep patterns unique.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509482" y="2743696"/>
            <a:ext cx="2072529" cy="1319312"/>
          </a:xfrm>
          <a:prstGeom prst="roundRect">
            <a:avLst>
              <a:gd name="adj" fmla="val 866"/>
            </a:avLst>
          </a:prstGeom>
          <a:solidFill>
            <a:srgbClr val="17102B"/>
          </a:solidFill>
          <a:ln/>
        </p:spPr>
      </p:sp>
      <p:sp>
        <p:nvSpPr>
          <p:cNvPr id="18" name="Text 16"/>
          <p:cNvSpPr/>
          <p:nvPr/>
        </p:nvSpPr>
        <p:spPr>
          <a:xfrm>
            <a:off x="9738077" y="2989124"/>
            <a:ext cx="1615340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Map / dictionary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738077" y="3336727"/>
            <a:ext cx="1615340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Connect categories with results.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609585" y="4215408"/>
            <a:ext cx="34543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COMPLEXITY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609585" y="4495701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O(N)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09585" y="4881463"/>
            <a:ext cx="34543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Preprocessing for input length N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4368691" y="4215408"/>
            <a:ext cx="34543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AVERAGE LOOKUP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368691" y="4495701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O(1)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4368691" y="4881463"/>
            <a:ext cx="3454314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Hash lookup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8127797" y="4215408"/>
            <a:ext cx="3454314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MATCHING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127797" y="4495701"/>
            <a:ext cx="3454314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Algorithm-dependent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8127797" y="4881463"/>
            <a:ext cx="3454314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Matching complexity depends on the selected algorithm.</a:t>
            </a:r>
            <a:endParaRPr lang="en-US" sz="1400" dirty="0"/>
          </a:p>
        </p:txBody>
      </p:sp>
      <p:sp>
        <p:nvSpPr>
          <p:cNvPr id="29" name="Text 27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11940777" y="6466086"/>
            <a:ext cx="250918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6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10331"/>
            <a:ext cx="83055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spc="59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06 — PROTOTYPE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609585" y="903003"/>
            <a:ext cx="7696007" cy="17784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465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The prototype connects detection to a usable dashboard</a:t>
            </a:r>
            <a:endParaRPr lang="en-US" sz="4650" dirty="0"/>
          </a:p>
        </p:txBody>
      </p:sp>
      <p:sp>
        <p:nvSpPr>
          <p:cNvPr id="4" name="Text 2"/>
          <p:cNvSpPr/>
          <p:nvPr/>
        </p:nvSpPr>
        <p:spPr>
          <a:xfrm>
            <a:off x="609585" y="2775148"/>
            <a:ext cx="7696007" cy="44926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A modular implementation links text processing, hybrid matching, classification, and moderation action.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609585" y="3362722"/>
            <a:ext cx="3771806" cy="1520428"/>
          </a:xfrm>
          <a:prstGeom prst="rect">
            <a:avLst/>
          </a:prstGeom>
          <a:solidFill>
            <a:srgbClr val="241D3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8179" y="3591322"/>
            <a:ext cx="363032" cy="4148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38179" y="4113440"/>
            <a:ext cx="3314617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Programming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38179" y="4429820"/>
            <a:ext cx="354321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Python / Java.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4533787" y="3362722"/>
            <a:ext cx="3771806" cy="1520428"/>
          </a:xfrm>
          <a:prstGeom prst="rect">
            <a:avLst/>
          </a:prstGeom>
          <a:solidFill>
            <a:srgbClr val="241D38"/>
          </a:solidFill>
          <a:ln/>
        </p:spPr>
      </p:sp>
      <p:pic>
        <p:nvPicPr>
          <p:cNvPr id="1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62381" y="3591322"/>
            <a:ext cx="414922" cy="414933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4762381" y="4113539"/>
            <a:ext cx="3314617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Text processing</a:t>
            </a:r>
            <a:endParaRPr lang="en-US" sz="1600" dirty="0"/>
          </a:p>
        </p:txBody>
      </p:sp>
      <p:sp>
        <p:nvSpPr>
          <p:cNvPr id="12" name="Text 8"/>
          <p:cNvSpPr/>
          <p:nvPr/>
        </p:nvSpPr>
        <p:spPr>
          <a:xfrm>
            <a:off x="4762381" y="4429919"/>
            <a:ext cx="354321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NLTK + spaCy.</a:t>
            </a:r>
            <a:endParaRPr lang="en-US" sz="1300" dirty="0"/>
          </a:p>
        </p:txBody>
      </p:sp>
      <p:sp>
        <p:nvSpPr>
          <p:cNvPr id="13" name="Shape 9"/>
          <p:cNvSpPr/>
          <p:nvPr/>
        </p:nvSpPr>
        <p:spPr>
          <a:xfrm>
            <a:off x="609585" y="5035550"/>
            <a:ext cx="3771806" cy="1520428"/>
          </a:xfrm>
          <a:prstGeom prst="rect">
            <a:avLst/>
          </a:prstGeom>
          <a:solidFill>
            <a:srgbClr val="241D38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8179" y="5264150"/>
            <a:ext cx="414922" cy="414933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838179" y="5786367"/>
            <a:ext cx="3314617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Search and storage</a:t>
            </a:r>
            <a:endParaRPr lang="en-US" sz="1600" dirty="0"/>
          </a:p>
        </p:txBody>
      </p:sp>
      <p:sp>
        <p:nvSpPr>
          <p:cNvPr id="16" name="Text 11"/>
          <p:cNvSpPr/>
          <p:nvPr/>
        </p:nvSpPr>
        <p:spPr>
          <a:xfrm>
            <a:off x="838179" y="6102747"/>
            <a:ext cx="354321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Hash-based lookup + Elasticsearch.</a:t>
            </a:r>
            <a:endParaRPr lang="en-US" sz="1300" dirty="0"/>
          </a:p>
        </p:txBody>
      </p:sp>
      <p:sp>
        <p:nvSpPr>
          <p:cNvPr id="17" name="Shape 12"/>
          <p:cNvSpPr/>
          <p:nvPr/>
        </p:nvSpPr>
        <p:spPr>
          <a:xfrm>
            <a:off x="4533787" y="5035550"/>
            <a:ext cx="3771806" cy="1520428"/>
          </a:xfrm>
          <a:prstGeom prst="rect">
            <a:avLst/>
          </a:prstGeom>
          <a:solidFill>
            <a:srgbClr val="241D38"/>
          </a:solidFill>
          <a:ln/>
        </p:spPr>
      </p:sp>
      <p:pic>
        <p:nvPicPr>
          <p:cNvPr id="18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62381" y="5264150"/>
            <a:ext cx="414922" cy="414933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4762381" y="5786367"/>
            <a:ext cx="3314617" cy="22175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6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Interface</a:t>
            </a:r>
            <a:endParaRPr lang="en-US" sz="1600" dirty="0"/>
          </a:p>
        </p:txBody>
      </p:sp>
      <p:sp>
        <p:nvSpPr>
          <p:cNvPr id="20" name="Text 14"/>
          <p:cNvSpPr/>
          <p:nvPr/>
        </p:nvSpPr>
        <p:spPr>
          <a:xfrm>
            <a:off x="4762381" y="6102747"/>
            <a:ext cx="3543211" cy="22463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3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Streamlit dashboard.</a:t>
            </a:r>
            <a:endParaRPr lang="en-US" sz="1300" dirty="0"/>
          </a:p>
        </p:txBody>
      </p:sp>
      <p:sp>
        <p:nvSpPr>
          <p:cNvPr id="21" name="Text 15"/>
          <p:cNvSpPr/>
          <p:nvPr/>
        </p:nvSpPr>
        <p:spPr>
          <a:xfrm>
            <a:off x="609585" y="6695020"/>
            <a:ext cx="8305592" cy="16847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Modules: preprocessing · sensitive pattern detection · hybrid matching · randomized detection · classification · moderation dashboard</a:t>
            </a:r>
            <a:endParaRPr lang="en-US" sz="1000" dirty="0"/>
          </a:p>
        </p:txBody>
      </p:sp>
      <p:pic>
        <p:nvPicPr>
          <p:cNvPr id="22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19969" y="0"/>
            <a:ext cx="2971726" cy="6858000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24" name="Text 17"/>
          <p:cNvSpPr/>
          <p:nvPr/>
        </p:nvSpPr>
        <p:spPr>
          <a:xfrm>
            <a:off x="6064594" y="6466086"/>
            <a:ext cx="672091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609600"/>
            <a:ext cx="11582110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07 — TESTING AND EVALUATION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929580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Testing separates safe, sensitive, and prohibited outcomes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317055"/>
            <a:ext cx="11582110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Each test case connects detection evidence to classification and moderation action.</a:t>
            </a:r>
            <a:endParaRPr lang="en-US" sz="1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09585" y="2743696"/>
          <a:ext cx="10972526" cy="914400"/>
        </p:xfrm>
        <a:graphic>
          <a:graphicData uri="http://schemas.openxmlformats.org/drawingml/2006/table">
            <a:tbl>
              <a:tblPr/>
              <a:tblGrid>
                <a:gridCol w="2673997"/>
                <a:gridCol w="3301770"/>
                <a:gridCol w="2160653"/>
                <a:gridCol w="2568904"/>
                <a:gridCol w="267201"/>
              </a:tblGrid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Test case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Detection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Classification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Action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Safe text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No pattern detected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SAFE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A3670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ALLOW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726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Sensitive text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Pattern detected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SENSITIVE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FLAG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90912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Prohibited text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Detected and verified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FFFFF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PROHIBITED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7102B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400" dirty="0">
                          <a:solidFill>
                            <a:srgbClr val="F2EDFB"/>
                          </a:solidFill>
                          <a:latin typeface="Bitter" pitchFamily="34" charset="0"/>
                          <a:ea typeface="Bitter" pitchFamily="34" charset="-122"/>
                          <a:cs typeface="Bitter" pitchFamily="34" charset="-120"/>
                        </a:rPr>
                        <a:t>BLOCK / ESCALATE</a:t>
                      </a: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400" dirty="0">
                        <a:latin typeface="Bitter" charset="0"/>
                        <a:ea typeface="Bitter" charset="0"/>
                        <a:cs typeface="Bitter" charset="0"/>
                      </a:endParaRPr>
                    </a:p>
                  </a:txBody>
                  <a:tcPr marL="133347" marR="133347" marT="71118" marB="71118" anchor="ctr">
                    <a:lnL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4F495E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609585" y="4497884"/>
            <a:ext cx="10972526" cy="3732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Safe text: “The weather is beautiful today.” · Evaluate with detection accuracy, false-positive rate, false-negative rate, processing time, throughput, and latency. No measured percentages or timings are supplied yet.</a:t>
            </a:r>
            <a:endParaRPr lang="en-US" sz="1050" dirty="0"/>
          </a:p>
        </p:txBody>
      </p:sp>
      <p:sp>
        <p:nvSpPr>
          <p:cNvPr id="7" name="Text 4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11939090" y="6466086"/>
            <a:ext cx="252605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8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09585" y="1342330"/>
            <a:ext cx="731501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08 — SCALE AND APPLICATION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662311"/>
            <a:ext cx="6705432" cy="1905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Fast detection can support moderation across high-volume text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3684786"/>
            <a:ext cx="6705432" cy="18307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Advantages: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fast pattern detection, efficient lookup, scalable processing, hybrid matching, and automated moderation support.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Applications: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social media comments, content moderation, cybersecurity, and harmful or abusive e-commerce reviews.</a:t>
            </a:r>
            <a:endParaRPr lang="en-US" sz="1400" dirty="0"/>
          </a:p>
          <a:p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b="1" dirty="0">
                <a:solidFill>
                  <a:srgbClr val="F2EDFB"/>
                </a:solidFill>
                <a:latin typeface="Bitter Bold" pitchFamily="34" charset="0"/>
                <a:ea typeface="Bitter Bold" pitchFamily="34" charset="-122"/>
                <a:cs typeface="Bitter Bold" pitchFamily="34" charset="-120"/>
              </a:rPr>
              <a:t>Future scope:</a:t>
            </a:r>
            <a:pPr algn="l" marL="284480" indent="-284480">
              <a:lnSpc>
                <a:spcPct val="117000"/>
              </a:lnSpc>
              <a:buSzPct val="100000"/>
              <a:buChar char="•"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 context-aware detection, machine learning integration, multilingual support, real-time streaming, adaptive pattern databases, and advanced moderation analytics.</a:t>
            </a:r>
            <a:endParaRPr lang="en-US" sz="1400" dirty="0"/>
          </a:p>
        </p:txBody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394" y="0"/>
            <a:ext cx="3962301" cy="68580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7" name="Text 4"/>
          <p:cNvSpPr/>
          <p:nvPr/>
        </p:nvSpPr>
        <p:spPr>
          <a:xfrm>
            <a:off x="6059435" y="6466086"/>
            <a:ext cx="68250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9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397167" y="999331"/>
            <a:ext cx="2006847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spc="63" kern="100" dirty="0">
                <a:solidFill>
                  <a:srgbClr val="B79CF5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09 — FINAL REVIEW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609585" y="1319312"/>
            <a:ext cx="10972526" cy="12700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5000" dirty="0">
                <a:solidFill>
                  <a:srgbClr val="F2EDFB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DSA turns moderation into a systematic, scalable process</a:t>
            </a:r>
            <a:endParaRPr lang="en-US" sz="5000" dirty="0"/>
          </a:p>
        </p:txBody>
      </p:sp>
      <p:sp>
        <p:nvSpPr>
          <p:cNvPr id="4" name="Text 2"/>
          <p:cNvSpPr/>
          <p:nvPr/>
        </p:nvSpPr>
        <p:spPr>
          <a:xfrm>
            <a:off x="609585" y="2757587"/>
            <a:ext cx="797004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01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09585" y="3006527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6" name="Text 4"/>
          <p:cNvSpPr/>
          <p:nvPr/>
        </p:nvSpPr>
        <p:spPr>
          <a:xfrm>
            <a:off x="609585" y="3149064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Find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609585" y="3496667"/>
            <a:ext cx="2514537" cy="49768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String matching finds candidate patterns.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3428914" y="2757587"/>
            <a:ext cx="821908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02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3428914" y="3006527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0" name="Text 8"/>
          <p:cNvSpPr/>
          <p:nvPr/>
        </p:nvSpPr>
        <p:spPr>
          <a:xfrm>
            <a:off x="3428914" y="3149064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Accelerate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3428914" y="3496667"/>
            <a:ext cx="2514537" cy="24884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Hashing accelerates lookup.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248244" y="2757587"/>
            <a:ext cx="824983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248244" y="3006527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4" name="Text 12"/>
          <p:cNvSpPr/>
          <p:nvPr/>
        </p:nvSpPr>
        <p:spPr>
          <a:xfrm>
            <a:off x="6248244" y="3149064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Verify</a:t>
            </a:r>
            <a:endParaRPr lang="en-US" sz="1700" dirty="0"/>
          </a:p>
        </p:txBody>
      </p:sp>
      <p:sp>
        <p:nvSpPr>
          <p:cNvPr id="15" name="Text 13"/>
          <p:cNvSpPr/>
          <p:nvPr/>
        </p:nvSpPr>
        <p:spPr>
          <a:xfrm>
            <a:off x="6248244" y="3496667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Randomized algorithms support filtering and verification.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9067573" y="2757587"/>
            <a:ext cx="829746" cy="177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83000"/>
              </a:lnSpc>
              <a:buNone/>
            </a:pPr>
            <a:r>
              <a:rPr lang="en-US" sz="1400" dirty="0">
                <a:solidFill>
                  <a:srgbClr val="17102B"/>
                </a:solidFill>
                <a:latin typeface="Bitter SemiBold" pitchFamily="34" charset="0"/>
                <a:ea typeface="Bitter SemiBold" pitchFamily="34" charset="-122"/>
                <a:cs typeface="Bitter SemiBold" pitchFamily="34" charset="-120"/>
              </a:rPr>
              <a:t>04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9067573" y="3006527"/>
            <a:ext cx="2514537" cy="19050"/>
          </a:xfrm>
          <a:prstGeom prst="rect">
            <a:avLst/>
          </a:prstGeom>
          <a:solidFill>
            <a:srgbClr val="17102B"/>
          </a:solidFill>
          <a:ln/>
        </p:spPr>
      </p:sp>
      <p:sp>
        <p:nvSpPr>
          <p:cNvPr id="18" name="Text 16"/>
          <p:cNvSpPr/>
          <p:nvPr/>
        </p:nvSpPr>
        <p:spPr>
          <a:xfrm>
            <a:off x="9067573" y="3149064"/>
            <a:ext cx="2514537" cy="2374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1700" dirty="0">
                <a:solidFill>
                  <a:srgbClr val="B79CF5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Moderate</a:t>
            </a:r>
            <a:endParaRPr lang="en-US" sz="1700" dirty="0"/>
          </a:p>
        </p:txBody>
      </p:sp>
      <p:sp>
        <p:nvSpPr>
          <p:cNvPr id="19" name="Text 17"/>
          <p:cNvSpPr/>
          <p:nvPr/>
        </p:nvSpPr>
        <p:spPr>
          <a:xfrm>
            <a:off x="9067573" y="3496667"/>
            <a:ext cx="2514537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4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Efficient text processing connects detection to classification and moderation.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609585" y="4497189"/>
            <a:ext cx="10972526" cy="1016000"/>
          </a:xfrm>
          <a:prstGeom prst="rect">
            <a:avLst/>
          </a:prstGeom>
          <a:solidFill>
            <a:srgbClr val="4A3670"/>
          </a:solidFill>
          <a:ln/>
        </p:spPr>
      </p:sp>
      <p:sp>
        <p:nvSpPr>
          <p:cNvPr id="21" name="Text 19"/>
          <p:cNvSpPr/>
          <p:nvPr/>
        </p:nvSpPr>
        <p:spPr>
          <a:xfrm>
            <a:off x="914377" y="4746427"/>
            <a:ext cx="10362941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92000"/>
              </a:lnSpc>
              <a:buNone/>
            </a:pPr>
            <a:r>
              <a:rPr lang="en-US" sz="2000" dirty="0">
                <a:solidFill>
                  <a:srgbClr val="FFFFFF"/>
                </a:solidFill>
                <a:latin typeface="Jost" pitchFamily="34" charset="0"/>
                <a:ea typeface="Jost" pitchFamily="34" charset="-122"/>
                <a:cs typeface="Jost" pitchFamily="34" charset="-120"/>
              </a:rPr>
              <a:t>“Efficient algorithms can transform large-scale text moderation into a faster, systematic and scalable process.”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1839470" y="5671939"/>
            <a:ext cx="9122341" cy="1866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5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Final deliverables: working implementation · testing and evaluation · Streamlit prototype · project report · source code · final demonstration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177895" y="6466086"/>
            <a:ext cx="4236039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Intelligent Content Moderation and Sensitive Pattern Detection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11883628" y="6466086"/>
            <a:ext cx="308067" cy="174129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1000" dirty="0">
                <a:solidFill>
                  <a:srgbClr val="F2EDFB"/>
                </a:solidFill>
                <a:latin typeface="Bitter" pitchFamily="34" charset="0"/>
                <a:ea typeface="Bitter" pitchFamily="34" charset="-122"/>
                <a:cs typeface="Bitter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2026-10-07T05:04:59Z</dcterms:created>
  <dcterms:modified xsi:type="dcterms:W3CDTF">2026-10-07T05:04:59Z</dcterms:modified>
</cp:coreProperties>
</file>